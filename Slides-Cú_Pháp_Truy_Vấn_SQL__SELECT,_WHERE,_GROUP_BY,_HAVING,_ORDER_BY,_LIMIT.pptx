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bài thuyết trình này, chúng ta sẽ đi sâu vào cú pháp truy vấn SQL, tập trung vào việc hiểu rõ các mệnh đề cốt lõi tạo nên một câu lệnh truy vấn hoàn chỉnh. Chúng ta sẽ lần lượt tìm hiểu chức năng và cách sử dụng của từng mệnh đề như SELECT để chọn dữ liệu, FROM để chỉ định bảng, WHERE để lọc bản ghi, GROUP BY để nhóm kết quả, HAVING để lọc nhóm và ORDER BY để sắp xếp dữ liệu đầu ra. Hiểu biết vững chắc về các mệnh đề này là nền tảng để làm việc hiệu quả với cơ sở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Hôm nay chúng ta sẽ tìm hiểu về cấu trúc của một câu truy vấn SQL đầy đủ. Một câu truy vấn SQL chuẩn bao gồm 6 mệnh đề. Mệnh đề đầu tiên là SELECT, dùng để chọn ra các cột dữ liệu bạn muốn hiển thị. Tiếp theo, mệnh đề FROM sẽ cho biết dữ liệu này đến từ bảng nào. Mệnh đề WHERE cho phép bạn lọc các dòng dữ liệu dựa trên các điều kiện cụ thể. Sau đó, GROUP BY được sử dụng để nhóm các dòng dữ liệu có cùng giá trị trong một hoặc nhiều cột. Mệnh đề HAVING dùng để lọc các nhóm này dựa trên điều kiện sau khi đã nhóm. Cuối cùng, ORDER BY sẽ sắp xếp kết quả truy vấn theo thứ tự bạn mong muốn. Nắm vững cấu trúc này sẽ giúp bạn xây dựng các truy vấn mạnh mẽ và chính xác hơn.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SQL, các mệnh đề không được viết theo thứ tự thực thi. Thứ tự thực thi chuẩn là: FROM, WHERE, GROUP BY, HAVING, SELECT, và cuối cùng là ORDER BY. Việc nắm vững trình tự này rất quan trọng để viết các câu truy vấn hiệu quả và tránh các lỗi logic.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mừng các bạn đến với phần giới thiệu về hai mệnh đề cơ bản nhất trong SQL: SELECT và FROM. Mệnh đề SELECT dùng để chỉ định những cột dữ liệu nào bạn muốn lấy ra từ bảng. Bạn có thể dùng dấu sao (*) để lấy tất cả các cột, hoặc liệt kê tên các cột cụ thể ngăn cách nhau bởi dấu phẩy. Mệnh đề FROM sẽ cho hệ quản trị cơ sở dữ liệu biết bạn muốn lấy dữ liệu từ bảng nào. Ví dụ, để lấy toàn bộ thông tin từ bảng Customers, ta dùng câu lệnh SELECT * FROM Customers. Nếu chỉ muốn lấy tên, số điện thoại và quốc gia, ta sẽ dùng SELECT CustomerName, Phone, Country FROM Customers. Đây là nền tảng cho mọi truy vấn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Alias, hay còn gọi là tên định danh, là một công cụ hữu ích trong SQL. Nó cho phép bạn đặt một tên gọi ngắn gọn, dễ nhớ hơn cho các cột hoặc toàn bộ bảng. Điều này đặc biệt hữu ích khi làm việc với các tên cột dài, phức tạp hoặc khi bạn muốn làm cho câu lệnh truy vấn của mình trở nên rõ ràng và dễ hiểu hơn đối với người đọc.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Mệnh đề WHERE dùng để lọc dữ liệu trong truy vấn SQL. Nó cho phép bạn chỉ định các điều kiện mà các hàng phải đáp ứng để được bao gồm trong kết quả. Các toán tử so sánh phổ biến như bằng, lớn hơn, nhỏ hơn, v.v., có thể được sử dụng để xác định các điều kiện này. Ví dụ minh họa cách lấy khách hàng từ một quốc gia cụ thể hoặc sản phẩm có giá vượt quá một ngưỡng nhất định.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phần này, chúng ta sẽ khám phá các toán tử điều kiện phổ biến được sử dụng trong mệnh đề WHERE của SQL. Đầu tiên là toán tử BETWEEN, dùng để kiểm tra giá trị trong một khoảng xác định. Tiếp theo là toán tử IN, cho phép so sánh giá trị với một tập hợp các giá trị. Chúng ta cũng sẽ tìm hiểu cách sử dụng toán tử LIKE để tìm kiếm chuỗi theo mẫu, với hai ký tự đại diện chính là % và _. Cuối cùng, hai toán tử IS NULL và IS NOT NULL sẽ giúp xác định các giá trị là NULL hoặc không phải là NULL, rất quan trọng để xử lý dữ liệu thiếu hoặc chưa xác định.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Mệnh đề ORDER BY là một phần quan trọng của SQL, cho phép bạn kiểm soát cách dữ liệu được hiển thị sau khi truy vấn. Nó có thể sắp xếp theo một cột hoặc nhiều cột, sử dụng ASC để tăng dần và DESC để giảm dần. Hãy nhớ rằng ASC là mặc định nếu không có chỉ định nào được đưa 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e055e03c-84c9-4dc0-9d56-b023d1a8b164.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9210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Cú pháp truy vấn SQL</a:t>
            </a:r>
          </a:p>
        </p:txBody>
      </p:sp>
      <p:sp>
        <p:nvSpPr>
          <p:cNvPr id="5" name="Rounded Rectangle 4"/>
          <p:cNvSpPr/>
          <p:nvPr/>
        </p:nvSpPr>
        <p:spPr>
          <a:xfrm>
            <a:off x="8534400" y="4749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054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Khám phá các mệnh đề truy vấn SQL tiêu chuẩn: SELECT, FROM, WHERE, GROUP BY, HAVING và ORDER BY.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06c3d30d-0e2d-4c23-8c63-4a0c9d53caad.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7432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Cấu trúc câu truy vấn SQL</a:t>
            </a:r>
          </a:p>
        </p:txBody>
      </p:sp>
      <p:sp>
        <p:nvSpPr>
          <p:cNvPr id="5" name="Rounded Rectangle 4"/>
          <p:cNvSpPr/>
          <p:nvPr/>
        </p:nvSpPr>
        <p:spPr>
          <a:xfrm>
            <a:off x="8534400" y="45720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9276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Một câu truy vấn SQL hoàn chỉnh bao gồm 6 mệnh đề chính: SELECT, FROM, WHERE, GROUP BY, HAVING, và ORDER BY, giúp bạn lựa chọn, lọc, nhóm và sắp xếp dữ liệu một cách hiệu quả.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fe41d9c1-5bd3-4c2a-b881-4100a9a737b1.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7432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Thứ tự thực hiện các mệnh đề SQL</a:t>
            </a:r>
          </a:p>
        </p:txBody>
      </p:sp>
      <p:sp>
        <p:nvSpPr>
          <p:cNvPr id="5" name="Rounded Rectangle 4"/>
          <p:cNvSpPr/>
          <p:nvPr/>
        </p:nvSpPr>
        <p:spPr>
          <a:xfrm>
            <a:off x="8534400" y="45720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9276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Hiểu rõ thứ tự thực thi của các mệnh đề SQL giúp tối ưu hóa truy vấn và đảm bảo kết quả chính xác. Các bước bao gồm: FROM, WHERE, GROUP BY, HAVING, SELECT và ORDER BY.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e055e03c-84c9-4dc0-9d56-b023d1a8b164.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9210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Mệnh Đề SELECT và FROM</a:t>
            </a:r>
          </a:p>
        </p:txBody>
      </p:sp>
      <p:sp>
        <p:nvSpPr>
          <p:cNvPr id="5" name="Rounded Rectangle 4"/>
          <p:cNvSpPr/>
          <p:nvPr/>
        </p:nvSpPr>
        <p:spPr>
          <a:xfrm>
            <a:off x="8534400" y="4749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054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Tìm hiểu cách sử dụng mệnh đề SELECT để chọn cột và FROM để chỉ định bảng trong truy vấn SQL.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1bac0dd7-6df8-4f35-8f98-ff59504b04aa.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9210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Tên định danh (Alias)</a:t>
            </a:r>
          </a:p>
        </p:txBody>
      </p:sp>
      <p:sp>
        <p:nvSpPr>
          <p:cNvPr id="5" name="Rounded Rectangle 4"/>
          <p:cNvSpPr/>
          <p:nvPr/>
        </p:nvSpPr>
        <p:spPr>
          <a:xfrm>
            <a:off x="8534400" y="4749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054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Alias là tên thay thế tạm thời cho cột hoặc bảng, giúp câu lệnh truy vấn ngắn gọn và dễ đọc hơn.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70c9a1b0-da83-4c84-9aa5-c8db870a026a.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3111500"/>
            <a:ext cx="6731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Mệnh đề WHERE</a:t>
            </a:r>
          </a:p>
        </p:txBody>
      </p:sp>
      <p:sp>
        <p:nvSpPr>
          <p:cNvPr id="5" name="Rounded Rectangle 4"/>
          <p:cNvSpPr/>
          <p:nvPr/>
        </p:nvSpPr>
        <p:spPr>
          <a:xfrm>
            <a:off x="8534400" y="41783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533900"/>
            <a:ext cx="6731000" cy="11049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Sử dụng </a:t>
            </a:r>
            <a:r>
              <a:rPr i="0" sz="1800" b="0">
                <a:solidFill>
                  <a:srgbClr val="4B5563"/>
                </a:solidFill>
                <a:latin typeface="Courier New"/>
              </a:rPr>
              <a:t>WHERE</a:t>
            </a:r>
            <a:r>
              <a:rPr i="0" sz="1800" b="0">
                <a:solidFill>
                  <a:srgbClr val="4B5563"/>
                </a:solidFill>
                <a:latin typeface="Inter"/>
              </a:rPr>
              <a:t> để lọc bản ghi theo điều kiện. Chỉ các bản ghi khớp với điều kiện mới được trả về. Bao gồm các toán tử so sánh như </a:t>
            </a:r>
            <a:r>
              <a:rPr i="0" sz="1800" b="0">
                <a:solidFill>
                  <a:srgbClr val="4B5563"/>
                </a:solidFill>
                <a:latin typeface="Courier New"/>
              </a:rPr>
              <a:t>=</a:t>
            </a:r>
            <a:r>
              <a:rPr i="0" sz="1800" b="0">
                <a:solidFill>
                  <a:srgbClr val="4B5563"/>
                </a:solidFill>
                <a:latin typeface="Inter"/>
              </a:rPr>
              <a:t>, </a:t>
            </a:r>
            <a:r>
              <a:rPr i="0" sz="1800" b="0">
                <a:solidFill>
                  <a:srgbClr val="4B5563"/>
                </a:solidFill>
                <a:latin typeface="Courier New"/>
              </a:rPr>
              <a:t>&lt;</a:t>
            </a:r>
            <a:r>
              <a:rPr i="0" sz="1800" b="0">
                <a:solidFill>
                  <a:srgbClr val="4B5563"/>
                </a:solidFill>
                <a:latin typeface="Inter"/>
              </a:rPr>
              <a:t>, </a:t>
            </a:r>
            <a:r>
              <a:rPr i="0" sz="1800" b="0">
                <a:solidFill>
                  <a:srgbClr val="4B5563"/>
                </a:solidFill>
                <a:latin typeface="Courier New"/>
              </a:rPr>
              <a:t>&gt;</a:t>
            </a:r>
            <a:r>
              <a:rPr i="0" sz="1800" b="0">
                <a:solidFill>
                  <a:srgbClr val="4B5563"/>
                </a:solidFill>
                <a:latin typeface="Inter"/>
              </a:rPr>
              <a:t>, </a:t>
            </a:r>
            <a:r>
              <a:rPr i="0" sz="1800" b="0">
                <a:solidFill>
                  <a:srgbClr val="4B5563"/>
                </a:solidFill>
                <a:latin typeface="Courier New"/>
              </a:rPr>
              <a:t>&lt;=</a:t>
            </a:r>
            <a:r>
              <a:rPr i="0" sz="1800" b="0">
                <a:solidFill>
                  <a:srgbClr val="4B5563"/>
                </a:solidFill>
                <a:latin typeface="Inter"/>
              </a:rPr>
              <a:t>, </a:t>
            </a:r>
            <a:r>
              <a:rPr i="0" sz="1800" b="0">
                <a:solidFill>
                  <a:srgbClr val="4B5563"/>
                </a:solidFill>
                <a:latin typeface="Courier New"/>
              </a:rPr>
              <a:t>&gt;=</a:t>
            </a:r>
            <a:r>
              <a:rPr i="0" sz="1800" b="0">
                <a:solidFill>
                  <a:srgbClr val="4B5563"/>
                </a:solidFill>
                <a:latin typeface="Inter"/>
              </a:rPr>
              <a:t>, </a:t>
            </a:r>
            <a:r>
              <a:rPr i="0" sz="1800" b="0">
                <a:solidFill>
                  <a:srgbClr val="4B5563"/>
                </a:solidFill>
                <a:latin typeface="Courier New"/>
              </a:rPr>
              <a:t>!=</a:t>
            </a:r>
            <a:r>
              <a:rPr i="0" sz="1800" b="0">
                <a:solidFill>
                  <a:srgbClr val="4B5563"/>
                </a:solidFill>
                <a:latin typeface="Inter"/>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dd737b90-e659-4bd9-a2d5-043c1cecf960.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9210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Các toán tử điều kiện trong WHERE</a:t>
            </a:r>
          </a:p>
        </p:txBody>
      </p:sp>
      <p:sp>
        <p:nvSpPr>
          <p:cNvPr id="5" name="Rounded Rectangle 4"/>
          <p:cNvSpPr/>
          <p:nvPr/>
        </p:nvSpPr>
        <p:spPr>
          <a:xfrm>
            <a:off x="8534400" y="4749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054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Tìm hiểu các toán tử BETWEEN, IN, LIKE, IS NULL và IS NOT NULL để lọc dữ liệu hiệu quả trong câu lệnh SQL.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2c85b414-2bed-4e65-a813-783fdb140c56.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9210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Mệnh đề ORDER BY</a:t>
            </a:r>
          </a:p>
        </p:txBody>
      </p:sp>
      <p:sp>
        <p:nvSpPr>
          <p:cNvPr id="5" name="Rounded Rectangle 4"/>
          <p:cNvSpPr/>
          <p:nvPr/>
        </p:nvSpPr>
        <p:spPr>
          <a:xfrm>
            <a:off x="8534400" y="4749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05400"/>
            <a:ext cx="6731000" cy="7239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Sắp xếp dữ liệu theo thứ tự tăng hoặc giảm dần dựa trên một hoặc nhiều cột. Sử dụng </a:t>
            </a:r>
            <a:r>
              <a:rPr i="0" sz="1800" b="0">
                <a:solidFill>
                  <a:srgbClr val="4B5563"/>
                </a:solidFill>
                <a:latin typeface="Courier New"/>
              </a:rPr>
              <a:t>ASC</a:t>
            </a:r>
            <a:r>
              <a:rPr i="0" sz="1800" b="0">
                <a:solidFill>
                  <a:srgbClr val="4B5563"/>
                </a:solidFill>
                <a:latin typeface="Inter"/>
              </a:rPr>
              <a:t> cho tăng dần (mặc định) và </a:t>
            </a:r>
            <a:r>
              <a:rPr i="0" sz="1800" b="0">
                <a:solidFill>
                  <a:srgbClr val="4B5563"/>
                </a:solidFill>
                <a:latin typeface="Courier New"/>
              </a:rPr>
              <a:t>DESC</a:t>
            </a:r>
            <a:r>
              <a:rPr i="0" sz="1800" b="0">
                <a:solidFill>
                  <a:srgbClr val="4B5563"/>
                </a:solidFill>
                <a:latin typeface="Inter"/>
              </a:rPr>
              <a:t> cho giảm dần.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